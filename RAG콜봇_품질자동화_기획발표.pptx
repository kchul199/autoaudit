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콜봇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자동 검증 시스템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합의 평가 파이프라인 기획 보고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5029200" cy="36576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품질관리팀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9848" y="1143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분석 및 문제 정의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핵심 문제점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04688" y="1143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파이프라인 개요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04688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 체크포인트 구조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8600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86000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69848" y="2377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베이스 강화 (CP2)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" y="27889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유형별 청킹 · 계층 인덱싱 · 이중 임베딩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86000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04688" y="2377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검색 강화 (CP3)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04688" y="27889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· 멀티쿼리 · 2단계 리랭킹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52044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520440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69848" y="36118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합의 평가 (CP4)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" y="40233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× GPT-4o × Gemini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52044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520440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04688" y="36118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로드맵 &amp; 기대 효과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04688" y="40233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· 6주 · KPI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분석 및 문제 정의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평가 방식의 한계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EBF3FB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424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방식: 운영 인력이 직접 콜봇 시뮬레이션 수행 → 콜 로그 수동 분석 → 품질 평가 (텍스트 로그, 고객/콜봇 턴 분리)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2724912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19072"/>
            <a:ext cx="27249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901952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2456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지식 부재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200400"/>
            <a:ext cx="1353312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29184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가입자별 업무 도메인이 상이하여 운영 인력이 답변의 사실 여부를 직접 판단하기 어려움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2968" y="1719072"/>
            <a:ext cx="2724912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719072"/>
            <a:ext cx="272491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15384" y="190195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10128" y="26791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없음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58768" y="3200400"/>
            <a:ext cx="135331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29184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데이터(GT)가 존재하지 않아 자동화된 정량 평가 기준 수립 자체가 불가능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25896" y="1719072"/>
            <a:ext cx="2724912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1719072"/>
            <a:ext cx="272491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8312" y="1901952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63056" y="26791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리소스 선형 증가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11696" y="3200400"/>
            <a:ext cx="1353312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329184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가입자 수 증가에 비례하여 평가 인력·시간이 지속 증가하는 구조적 비효율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개요 — 6단계 자동화 파이프라인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실행 · GT-Free · 완전 자동화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143000"/>
            <a:ext cx="1261872" cy="1965960"/>
          </a:xfrm>
          <a:prstGeom prst="rect">
            <a:avLst/>
          </a:prstGeom>
          <a:solidFill>
            <a:srgbClr val="F1F5F9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43000"/>
            <a:ext cx="126187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344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645920"/>
            <a:ext cx="11704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27632" y="21259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0162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▶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46504" y="1143000"/>
            <a:ext cx="1261872" cy="196596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46504" y="1143000"/>
            <a:ext cx="126187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46504" y="12344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92224" y="1645920"/>
            <a:ext cx="11704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베이스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26664" y="21259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162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▶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45536" y="1143000"/>
            <a:ext cx="1261872" cy="1965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143000"/>
            <a:ext cx="126187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2344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91256" y="1645920"/>
            <a:ext cx="11704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25696" y="21259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8264" y="20162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▶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44568" y="1143000"/>
            <a:ext cx="1261872" cy="1965960"/>
          </a:xfrm>
          <a:prstGeom prst="rect">
            <a:avLst/>
          </a:prstGeom>
          <a:solidFill>
            <a:srgbClr val="E8EAF6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1143000"/>
            <a:ext cx="1261872" cy="7315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12344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0288" y="1645920"/>
            <a:ext cx="11704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합의 평가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24728" y="21259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97296" y="20162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▶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43600" y="1143000"/>
            <a:ext cx="1261872" cy="1965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1143000"/>
            <a:ext cx="126187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12344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1645920"/>
            <a:ext cx="11704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집계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분석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23760" y="21259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20162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▶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42632" y="1143000"/>
            <a:ext cx="1261872" cy="19659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42632" y="1143000"/>
            <a:ext cx="126187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12344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88352" y="1645920"/>
            <a:ext cx="11704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371600" y="3401568"/>
            <a:ext cx="2286000" cy="594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371600" y="3401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GT-Free 평가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문서가 GT 대체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31920" y="3401568"/>
            <a:ext cx="2286000" cy="594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931920" y="3401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최우선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LLM 합의 점수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3401568"/>
            <a:ext cx="2286000" cy="594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92240" y="3401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자동화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개입 없이 실행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 — 지식 베이스 구축 강화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유형별 최적화 · 계층 인덱싱 · 이중 임베딩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유형별 청킹 전략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8046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554480"/>
            <a:ext cx="36576" cy="2468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5544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48256" y="1554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쌍 단위 분리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26864" y="155448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질문-답변 쌍 보존 → 유사도 측정 정확도 향상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1801368"/>
            <a:ext cx="8046720" cy="24688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1801368"/>
            <a:ext cx="36576" cy="2468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18013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매뉴얼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48256" y="18013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계층적 청킹 (3단계)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26864" y="1801368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헤더를 메타데이터로 포함 → 문맥 손실 방지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2048256"/>
            <a:ext cx="8046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048256"/>
            <a:ext cx="36576" cy="2468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0482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48256" y="20482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6864" y="2048256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경계 탐지 → 자연스러운 단락 단위 분리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4414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계층적 Parent-Child 인덱싱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2880360"/>
            <a:ext cx="8046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2880360"/>
            <a:ext cx="36576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28803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자식 청크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48256" y="2880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128~256 토큰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26864" y="288036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 유사도 매칭용 (검색 단위)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" y="3127248"/>
            <a:ext cx="8046720" cy="24688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3127248"/>
            <a:ext cx="36576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312724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청크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48256" y="31272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512~1024 토큰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26864" y="3127248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컨텍스트 제공용 (±2 문단 포함)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" y="3374136"/>
            <a:ext cx="8046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3374136"/>
            <a:ext cx="36576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33741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048256" y="33741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 매칭 + 풍부한 문맥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26864" y="3374136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정밀도와 문맥 보존 동시 달성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7673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" y="3749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임베딩 (Dense + Sparse)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7240" y="4206240"/>
            <a:ext cx="8046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4206240"/>
            <a:ext cx="36576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42062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048256" y="42062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text-embedding-3-large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26864" y="420624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기반 검색 (ChromaDB 저장)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7240" y="4453128"/>
            <a:ext cx="8046720" cy="24688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4453128"/>
            <a:ext cx="36576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" y="44531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048256" y="44531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역인덱스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26864" y="4453128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전문용어·고유명사 키워드 검색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77240" y="4700016"/>
            <a:ext cx="8046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240" y="4700016"/>
            <a:ext cx="36576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470001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048256" y="470001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방식 앙상블 (RRF)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626864" y="4700016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+ 키워드 검색 모두 커버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CP3 — 컨텍스트 검색 강화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Multi-Stage Retrieval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289304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89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인식 쿼리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Conversation-Aware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28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턴 + 직전 3턴 → LLM이 핵심 의도 압축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13432"/>
            <a:ext cx="54864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55117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404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가상 답변 검색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770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Doc Embedding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이상적 답변 초안 생성 → 그 임베딩으로 검색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57530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75304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1304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666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멀티쿼리 확장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40325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Expansion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의도를 3~5개 표현으로 변형 → 재현율 극대화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05156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51560"/>
            <a:ext cx="54864" cy="111556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1289304"/>
            <a:ext cx="411480" cy="41148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289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67528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리랭킹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67528" y="1728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고재현율 → 크로스인코더 → Top-5 고정밀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31343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313432"/>
            <a:ext cx="54864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2551176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2404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패턴 검색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67528" y="2770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Dialogue-Pattern Retrieval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67528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 과거 대화 인덱스 → 흐름 평가용 모범 사례 제공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CP4 — Multi-LLM 합의 평가 (핵심)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AI 모델 독립 심판 → 합의 점수 산출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920240" cy="1005840"/>
          </a:xfrm>
          <a:prstGeom prst="rect">
            <a:avLst/>
          </a:prstGeom>
          <a:solidFill>
            <a:srgbClr val="EBF3FB"/>
          </a:solidFill>
          <a:ln w="1016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972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입력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9903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 질문
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콜봇 답변
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참조 문서 (CP3)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60020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00584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05840"/>
            <a:ext cx="1965960" cy="54864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0789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4081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 점수 (0~5) / 흐름 점수 (0~5)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201168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A37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2011680"/>
            <a:ext cx="1965960" cy="5486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0848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241401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 점수 (0~5) / 흐름 점수 (0~5)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301752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06040" y="3017520"/>
            <a:ext cx="1965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30906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34198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 점수 (0~5) / 흐름 점수 (0~5)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435608"/>
            <a:ext cx="384048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441448"/>
            <a:ext cx="384048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47288"/>
            <a:ext cx="384048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005840"/>
            <a:ext cx="2057400" cy="2880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합의 점수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1417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(3개 모델 가중 평균)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38928" y="1737360"/>
            <a:ext cx="169164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8013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209397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/ 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956048" y="26791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흐름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2971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/ 5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7013448" y="2441448"/>
            <a:ext cx="3474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1920240"/>
            <a:ext cx="150876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19202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불확실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케이스 플래그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60920" y="23957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 &gt; 1.5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별도 표시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EBF3FB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148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정확성 (0~5): </a:t>
            </a:r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문서와의 사실 부합 여부          </a:t>
            </a:r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흐름 (0~5): </a:t>
            </a:r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질문 맥락에 맞는 자연스러운 응답 여부 및 대화 일관성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툴 역할 분담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최적 AI 모델 배치 전략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2491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2724912" cy="640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612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(Opus)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" y="1673352"/>
            <a:ext cx="1005840" cy="2743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73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CP4 평가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057400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심층 언어 이해·긴 컨텍스트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 평가 핵심 모델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1051560"/>
            <a:ext cx="272491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51560"/>
            <a:ext cx="2724912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1612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82696" y="1673352"/>
            <a:ext cx="1005840" cy="2743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673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CP4 평가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82696" y="2057400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광범위한 도메인 커버리지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업종 사실 판단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25896" y="1051560"/>
            <a:ext cx="272491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051560"/>
            <a:ext cx="272491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11612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35624" y="1673352"/>
            <a:ext cx="10058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1673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CP4 평가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35624" y="2057400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컨텍스트·다국어 강점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대화 흐름 평가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272491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17520"/>
            <a:ext cx="272491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12724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" y="3639312"/>
            <a:ext cx="10058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CP2·CP3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" y="4023360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고차원 의미 임베딩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72968" y="3017520"/>
            <a:ext cx="272491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2968" y="3017520"/>
            <a:ext cx="2724912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12724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(HyDE)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82696" y="3639312"/>
            <a:ext cx="10058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CP3 검색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82696" y="4023360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답변 초안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 격차 해소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25896" y="3017520"/>
            <a:ext cx="272491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3017520"/>
            <a:ext cx="272491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312724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35624" y="3639312"/>
            <a:ext cx="10058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35624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35624" y="4023360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스크립트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최적화 보조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· 6주 완성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8503920" cy="7315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1078992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71600"/>
            <a:ext cx="201168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71600"/>
            <a:ext cx="201168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1828800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848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파이프라인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(CP1~CP3)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457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 로그 파싱 모듈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291840"/>
            <a:ext cx="457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2918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인덱싱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457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7490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검색 구현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06240"/>
            <a:ext cx="457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2062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· 멀티쿼리 적용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73552" y="1078992"/>
            <a:ext cx="201168" cy="20116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1371600"/>
            <a:ext cx="201168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1371600"/>
            <a:ext cx="2011680" cy="640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3~4주차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2084832"/>
            <a:ext cx="1828800" cy="62179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0848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평가엔진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(CP4)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2834640"/>
            <a:ext cx="4572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LLM Judge 구성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0" y="3291840"/>
            <a:ext cx="4572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0048" y="32918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프롬프트 설계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0" y="3749040"/>
            <a:ext cx="4572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37490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합의 점수 산출 로직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0" y="4206240"/>
            <a:ext cx="4572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0048" y="42062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 케이스 처리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22392" y="107899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1371600"/>
            <a:ext cx="201168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1371600"/>
            <a:ext cx="20116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1772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2084832"/>
            <a:ext cx="18288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20848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 &amp; 보고서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(CP5~CP6)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2834640"/>
            <a:ext cx="457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집계 모듈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291840"/>
            <a:ext cx="457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32918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 연동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3749040"/>
            <a:ext cx="457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37490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템플릿 설계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4206240"/>
            <a:ext cx="457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42062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자동 생성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71232" y="107899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6560" y="1371600"/>
            <a:ext cx="201168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66560" y="1371600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6656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0" y="2084832"/>
            <a:ext cx="1828800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0" y="20848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&amp; 보정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(전체 통합)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58000" y="2834640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6772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가입자 1개사 파일럿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58000" y="3291840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67728" y="32918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검토·프롬프트 보정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858000" y="3749040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67728" y="37490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자동화 스크립트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858000" y="4206240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67728" y="42062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가이드 문서화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 및 성공 지표 (KPI)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· 효율 · 확장성 동시 달성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87552"/>
            <a:ext cx="23774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시간 단축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시간 → 10분 이내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73552" y="987552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987552"/>
            <a:ext cx="23774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051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273552" y="1709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일치율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평가 대비 기준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98464" y="987552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98464" y="987552"/>
            <a:ext cx="2377440" cy="640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1051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998464" y="1709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 평가 전환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98464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샘플에서 전체 커버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목표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852928"/>
            <a:ext cx="320040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52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47872" y="2852928"/>
            <a:ext cx="128016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2852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방법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3200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00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평가 일치율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47872" y="3200400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200400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2004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수동 평가 대비 비교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584448"/>
            <a:ext cx="3200400" cy="38404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84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가입자별 평가 소요 시간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47872" y="3584448"/>
            <a:ext cx="1280160" cy="38404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3584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584448"/>
            <a:ext cx="3977640" cy="38404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5844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전체 실행 기준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968496"/>
            <a:ext cx="3200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9684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 케이스 비율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47872" y="3968496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39684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968496"/>
            <a:ext cx="3977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대화 중 플래그 케이스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352544"/>
            <a:ext cx="3200400" cy="38404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3525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발행 성공률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47872" y="4352544"/>
            <a:ext cx="1280160" cy="38404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43525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352544"/>
            <a:ext cx="3977640" cy="384048"/>
          </a:xfrm>
          <a:prstGeom prst="rect">
            <a:avLst/>
          </a:prstGeom>
          <a:solidFill>
            <a:srgbClr val="EBF3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35254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 성공 로그 기준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콜봇 품질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검증 시스템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5029200" cy="36576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60320"/>
            <a:ext cx="182880" cy="182880"/>
          </a:xfrm>
          <a:prstGeom prst="ellipse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420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지식 부재 · GT 부재 문제 → RAG 참조 문서로 해결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82880" cy="182880"/>
          </a:xfrm>
          <a:prstGeom prst="ellipse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535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최우선 → Claude × GPT-4o × Gemini 합의 평가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82880" cy="182880"/>
          </a:xfrm>
          <a:prstGeom prst="ellipse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649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베이스(CP2) + 검색(CP3) 이중 강화로 평가 품질 극대화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182880" cy="182880"/>
          </a:xfrm>
          <a:prstGeom prst="ellipse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76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 구현 → 95% 이상 평가 시간 단축 · 전수 평가 전환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및 의사결정 요청드립니다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기반 콜봇 품질 자동 검증 시스템</dc:title>
  <dc:subject>PptxGenJS Presentation</dc:subject>
  <dc:creator>품질관리팀</dc:creator>
  <cp:lastModifiedBy>품질관리팀</cp:lastModifiedBy>
  <cp:revision>1</cp:revision>
  <dcterms:created xsi:type="dcterms:W3CDTF">2026-04-04T13:49:03Z</dcterms:created>
  <dcterms:modified xsi:type="dcterms:W3CDTF">2026-04-04T13:49:03Z</dcterms:modified>
</cp:coreProperties>
</file>